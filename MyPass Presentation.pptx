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22" Type="http://schemas.openxmlformats.org/officeDocument/2006/relationships/font" Target="fonts/MavenPro-regular.fntdata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bca7a25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bca7a25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122e20f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122e20f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122e20f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122e20f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122e20fd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122e20fd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122e20f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122e20f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122e20fd1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122e20fd1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122e20fd1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122e20fd1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122e20fd1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122e20fd1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bca7a253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bca7a253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1408027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91408027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14080278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14080278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477225"/>
            <a:ext cx="23697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MyPass</a:t>
            </a:r>
            <a:endParaRPr sz="414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2447275"/>
            <a:ext cx="4255500" cy="18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320"/>
              <a:t>CIS 476</a:t>
            </a:r>
            <a:endParaRPr sz="2320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2320"/>
              <a:t>Term Project</a:t>
            </a:r>
            <a:endParaRPr sz="1920">
              <a:solidFill>
                <a:schemeClr val="dk1"/>
              </a:solidFill>
              <a:highlight>
                <a:srgbClr val="F2F2F2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br>
              <a:rPr lang="en" sz="2320"/>
            </a:br>
            <a:r>
              <a:rPr lang="en" sz="2320"/>
              <a:t>Brandon Bailey and </a:t>
            </a:r>
            <a:endParaRPr sz="23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320"/>
              <a:t>Andrew Gross</a:t>
            </a:r>
            <a:endParaRPr sz="23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4" title="TermProjectClass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0"/>
            <a:ext cx="72199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 txBox="1"/>
          <p:nvPr>
            <p:ph type="ctrTitle"/>
          </p:nvPr>
        </p:nvSpPr>
        <p:spPr>
          <a:xfrm>
            <a:off x="-685800" y="2338350"/>
            <a:ext cx="23697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C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L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A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S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S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140"/>
          </a:p>
        </p:txBody>
      </p:sp>
      <p:sp>
        <p:nvSpPr>
          <p:cNvPr id="285" name="Google Shape;285;p14"/>
          <p:cNvSpPr txBox="1"/>
          <p:nvPr>
            <p:ph type="ctrTitle"/>
          </p:nvPr>
        </p:nvSpPr>
        <p:spPr>
          <a:xfrm>
            <a:off x="7481975" y="2429725"/>
            <a:ext cx="23697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D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I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A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G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R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A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M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1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5" title="Builder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5884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 txBox="1"/>
          <p:nvPr>
            <p:ph type="title"/>
          </p:nvPr>
        </p:nvSpPr>
        <p:spPr>
          <a:xfrm>
            <a:off x="2113500" y="605250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u</a:t>
            </a:r>
            <a:r>
              <a:rPr lang="en"/>
              <a:t>il</a:t>
            </a:r>
            <a:r>
              <a:rPr lang="en"/>
              <a:t>der - Configurable Password Generation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2113500" y="1492650"/>
            <a:ext cx="7030500" cy="30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523"/>
              <a:buNone/>
            </a:pPr>
            <a:r>
              <a:rPr b="1" lang="en" sz="1530">
                <a:solidFill>
                  <a:schemeClr val="dk1"/>
                </a:solidFill>
              </a:rPr>
              <a:t>Class</a:t>
            </a:r>
            <a:r>
              <a:rPr lang="en" sz="1530">
                <a:solidFill>
                  <a:schemeClr val="dk1"/>
                </a:solidFill>
              </a:rPr>
              <a:t>: PasswordBuilder</a:t>
            </a: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What it does</a:t>
            </a:r>
            <a:r>
              <a:rPr lang="en" sz="1530">
                <a:solidFill>
                  <a:schemeClr val="dk1"/>
                </a:solidFill>
              </a:rPr>
              <a:t>: Uses a nested Builder to toggle uppercase/lowercase/digits/symbols and set length, then constructs a password with required characters and shuffles the result</a:t>
            </a: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How it’s used</a:t>
            </a:r>
            <a:r>
              <a:rPr lang="en" sz="1530">
                <a:solidFill>
                  <a:schemeClr val="dk1"/>
                </a:solidFill>
              </a:rPr>
              <a:t>: CreateAccountController instantiates a PasswordBuilder and calls buildPassword() when the “Generate Password” button is clicked, then forwards the result to the UI mediator and observers</a:t>
            </a:r>
            <a:endParaRPr sz="1530">
              <a:solidFill>
                <a:schemeClr val="dk1"/>
              </a:solidFill>
            </a:endParaRPr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○"/>
            </a:pPr>
            <a:r>
              <a:rPr b="1" lang="en" sz="1530">
                <a:solidFill>
                  <a:schemeClr val="dk1"/>
                </a:solidFill>
              </a:rPr>
              <a:t>Implementation</a:t>
            </a:r>
            <a:r>
              <a:rPr lang="en" sz="1530">
                <a:solidFill>
                  <a:schemeClr val="dk1"/>
                </a:solidFill>
              </a:rPr>
              <a:t>: PasswordBuilder setup, pool assembly, and nested Builder setters </a:t>
            </a:r>
            <a:r>
              <a:rPr lang="en" sz="1530">
                <a:solidFill>
                  <a:srgbClr val="3C78D8"/>
                </a:solidFill>
              </a:rPr>
              <a:t>(Lines 7-123 of PasswordBuilder.java)</a:t>
            </a:r>
            <a:endParaRPr sz="1530">
              <a:solidFill>
                <a:srgbClr val="3C78D8"/>
              </a:solidFill>
            </a:endParaRPr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○"/>
            </a:pPr>
            <a:r>
              <a:rPr b="1" lang="en" sz="1530">
                <a:solidFill>
                  <a:schemeClr val="dk1"/>
                </a:solidFill>
              </a:rPr>
              <a:t>Usage in controller</a:t>
            </a:r>
            <a:r>
              <a:rPr lang="en" sz="1530">
                <a:solidFill>
                  <a:schemeClr val="dk1"/>
                </a:solidFill>
              </a:rPr>
              <a:t>: generation and dispatch to mediator/observer pipeline </a:t>
            </a:r>
            <a:r>
              <a:rPr lang="en" sz="1530">
                <a:solidFill>
                  <a:srgbClr val="4A86E8"/>
                </a:solidFill>
              </a:rPr>
              <a:t>(Lines 43-89 of CreateAccountController.java)</a:t>
            </a:r>
            <a:endParaRPr sz="153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3513900" y="0"/>
            <a:ext cx="5630100" cy="10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42672"/>
              <a:buNone/>
            </a:pPr>
            <a:r>
              <a:rPr lang="en" sz="2320"/>
              <a:t>Mediator — Centralized Form Coordination</a:t>
            </a:r>
            <a:endParaRPr sz="2320"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3343275" y="838200"/>
            <a:ext cx="5800800" cy="41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5755" lvl="0" marL="457200" marR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Classes</a:t>
            </a:r>
            <a:r>
              <a:rPr lang="en" sz="1530">
                <a:solidFill>
                  <a:schemeClr val="dk1"/>
                </a:solidFill>
              </a:rPr>
              <a:t>: FormMediator (interface) and CreateAccountMediator</a:t>
            </a:r>
            <a:endParaRPr sz="1530">
              <a:solidFill>
                <a:schemeClr val="dk1"/>
              </a:solidFill>
            </a:endParaRPr>
          </a:p>
          <a:p>
            <a:pPr indent="-32575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What it does</a:t>
            </a:r>
            <a:r>
              <a:rPr lang="en" sz="1530">
                <a:solidFill>
                  <a:schemeClr val="dk1"/>
                </a:solidFill>
              </a:rPr>
              <a:t>: Mediates interactions between UI elements (password field and warning label) so controllers don’t manipulate data directly</a:t>
            </a:r>
            <a:endParaRPr sz="1530">
              <a:solidFill>
                <a:schemeClr val="dk1"/>
              </a:solidFill>
            </a:endParaRPr>
          </a:p>
          <a:p>
            <a:pPr indent="-325755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How it’s used</a:t>
            </a:r>
            <a:r>
              <a:rPr lang="en" sz="1530">
                <a:solidFill>
                  <a:schemeClr val="dk1"/>
                </a:solidFill>
              </a:rPr>
              <a:t>: CreateAccountController registers its fields with the mediator, then calls mediator methods to apply generated passwords and display/clear weak-password warnings</a:t>
            </a:r>
            <a:endParaRPr sz="1530">
              <a:solidFill>
                <a:schemeClr val="dk1"/>
              </a:solidFill>
            </a:endParaRPr>
          </a:p>
          <a:p>
            <a:pPr indent="-325755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○"/>
            </a:pPr>
            <a:r>
              <a:rPr lang="en" sz="1530">
                <a:solidFill>
                  <a:schemeClr val="dk1"/>
                </a:solidFill>
              </a:rPr>
              <a:t>Mediator contract and methods</a:t>
            </a:r>
            <a:r>
              <a:rPr lang="en" sz="1530">
                <a:solidFill>
                  <a:srgbClr val="3C78D8"/>
                </a:solidFill>
              </a:rPr>
              <a:t> </a:t>
            </a:r>
            <a:endParaRPr sz="1530">
              <a:solidFill>
                <a:srgbClr val="3C78D8"/>
              </a:solidFill>
            </a:endParaRPr>
          </a:p>
          <a:p>
            <a:pPr indent="-325755" lvl="2" marL="1371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30"/>
              <a:buChar char="■"/>
            </a:pPr>
            <a:r>
              <a:rPr lang="en" sz="1530">
                <a:solidFill>
                  <a:srgbClr val="3C78D8"/>
                </a:solidFill>
              </a:rPr>
              <a:t>Lines 6-15 of FormMediator.java</a:t>
            </a:r>
            <a:endParaRPr sz="1530">
              <a:solidFill>
                <a:srgbClr val="3C78D8"/>
              </a:solidFill>
            </a:endParaRPr>
          </a:p>
          <a:p>
            <a:pPr indent="-325755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○"/>
            </a:pPr>
            <a:r>
              <a:rPr lang="en" sz="1530">
                <a:solidFill>
                  <a:schemeClr val="dk1"/>
                </a:solidFill>
              </a:rPr>
              <a:t>Concrete mediator updating controls</a:t>
            </a:r>
            <a:r>
              <a:rPr lang="en" sz="1530">
                <a:solidFill>
                  <a:srgbClr val="3C78D8"/>
                </a:solidFill>
              </a:rPr>
              <a:t> </a:t>
            </a:r>
            <a:endParaRPr sz="1530">
              <a:solidFill>
                <a:srgbClr val="3C78D8"/>
              </a:solidFill>
            </a:endParaRPr>
          </a:p>
          <a:p>
            <a:pPr indent="-325755" lvl="2" marL="1371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30"/>
              <a:buChar char="■"/>
            </a:pPr>
            <a:r>
              <a:rPr lang="en" sz="1530">
                <a:solidFill>
                  <a:srgbClr val="3C78D8"/>
                </a:solidFill>
              </a:rPr>
              <a:t>Lines 6-42 of CreateAccountMediator.java</a:t>
            </a:r>
            <a:endParaRPr sz="1530">
              <a:solidFill>
                <a:srgbClr val="3C78D8"/>
              </a:solidFill>
            </a:endParaRPr>
          </a:p>
          <a:p>
            <a:pPr indent="-325755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○"/>
            </a:pPr>
            <a:r>
              <a:rPr lang="en" sz="1530">
                <a:solidFill>
                  <a:schemeClr val="dk1"/>
                </a:solidFill>
              </a:rPr>
              <a:t>Controller wiring mediator to UI elements</a:t>
            </a:r>
            <a:r>
              <a:rPr lang="en" sz="1530">
                <a:solidFill>
                  <a:srgbClr val="3C78D8"/>
                </a:solidFill>
              </a:rPr>
              <a:t> </a:t>
            </a:r>
            <a:endParaRPr sz="1530">
              <a:solidFill>
                <a:srgbClr val="3C78D8"/>
              </a:solidFill>
            </a:endParaRPr>
          </a:p>
          <a:p>
            <a:pPr indent="-325755" lvl="2" marL="1371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30"/>
              <a:buChar char="■"/>
            </a:pPr>
            <a:r>
              <a:rPr lang="en" sz="1530">
                <a:solidFill>
                  <a:srgbClr val="3C78D8"/>
                </a:solidFill>
              </a:rPr>
              <a:t>Lines 14-89 of CreateAccountController.java</a:t>
            </a:r>
            <a:endParaRPr>
              <a:solidFill>
                <a:srgbClr val="3C78D8"/>
              </a:solidFill>
            </a:endParaRPr>
          </a:p>
        </p:txBody>
      </p:sp>
      <p:pic>
        <p:nvPicPr>
          <p:cNvPr id="299" name="Google Shape;299;p16" title="Mediator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7688"/>
            <a:ext cx="3513900" cy="39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7" title="Observer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9100"/>
            <a:ext cx="3943575" cy="43052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7"/>
          <p:cNvSpPr txBox="1"/>
          <p:nvPr>
            <p:ph type="title"/>
          </p:nvPr>
        </p:nvSpPr>
        <p:spPr>
          <a:xfrm>
            <a:off x="3800475" y="0"/>
            <a:ext cx="53436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91"/>
              <a:buNone/>
            </a:pPr>
            <a:r>
              <a:rPr lang="en" sz="1778"/>
              <a:t>Observer — Live Password-Strength Feedback</a:t>
            </a:r>
            <a:endParaRPr sz="1778"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3838575" y="800100"/>
            <a:ext cx="5305500" cy="4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8816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629">
                <a:solidFill>
                  <a:schemeClr val="dk1"/>
                </a:solidFill>
              </a:rPr>
              <a:t>Classes</a:t>
            </a:r>
            <a:r>
              <a:rPr lang="en" sz="1629">
                <a:solidFill>
                  <a:schemeClr val="dk1"/>
                </a:solidFill>
              </a:rPr>
              <a:t>: PasswordObservable (interface), PasswordStrengthObservable, PasswordStrengthSubject, observers like WeakPasswordObserver and RecoveryController</a:t>
            </a:r>
            <a:endParaRPr sz="1629">
              <a:solidFill>
                <a:schemeClr val="dk1"/>
              </a:solidFill>
            </a:endParaRPr>
          </a:p>
          <a:p>
            <a:pPr indent="-30881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629">
                <a:solidFill>
                  <a:schemeClr val="dk1"/>
                </a:solidFill>
              </a:rPr>
              <a:t>What it does</a:t>
            </a:r>
            <a:r>
              <a:rPr lang="en" sz="1629">
                <a:solidFill>
                  <a:schemeClr val="dk1"/>
                </a:solidFill>
              </a:rPr>
              <a:t>: Observables evaluate password strength and notify observers, which react (show warnings or enable buttons)</a:t>
            </a:r>
            <a:endParaRPr sz="1629">
              <a:solidFill>
                <a:schemeClr val="dk1"/>
              </a:solidFill>
            </a:endParaRPr>
          </a:p>
          <a:p>
            <a:pPr indent="-30881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629">
                <a:solidFill>
                  <a:schemeClr val="dk1"/>
                </a:solidFill>
              </a:rPr>
              <a:t>How it’s used</a:t>
            </a:r>
            <a:r>
              <a:rPr lang="en" sz="1629">
                <a:solidFill>
                  <a:schemeClr val="dk1"/>
                </a:solidFill>
              </a:rPr>
              <a:t>:</a:t>
            </a:r>
            <a:endParaRPr sz="1629">
              <a:solidFill>
                <a:schemeClr val="dk1"/>
              </a:solidFill>
            </a:endParaRPr>
          </a:p>
          <a:p>
            <a:pPr indent="-308816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29">
                <a:solidFill>
                  <a:schemeClr val="dk1"/>
                </a:solidFill>
              </a:rPr>
              <a:t>In account creation, PasswordStrengthObservable analyzes input and notifies WeakPasswordObserver, which asks the mediator to show/hide warnings </a:t>
            </a:r>
            <a:endParaRPr sz="1629">
              <a:solidFill>
                <a:schemeClr val="dk1"/>
              </a:solidFill>
            </a:endParaRPr>
          </a:p>
          <a:p>
            <a:pPr indent="-308816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■"/>
            </a:pPr>
            <a:r>
              <a:rPr lang="en" sz="1629">
                <a:solidFill>
                  <a:srgbClr val="3C78D8"/>
                </a:solidFill>
              </a:rPr>
              <a:t>Lines 6-35 of PasswordStrengthObservable.java</a:t>
            </a:r>
            <a:endParaRPr sz="1629">
              <a:solidFill>
                <a:srgbClr val="3C78D8"/>
              </a:solidFill>
            </a:endParaRPr>
          </a:p>
          <a:p>
            <a:pPr indent="-308816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■"/>
            </a:pPr>
            <a:r>
              <a:rPr lang="en" sz="1629">
                <a:solidFill>
                  <a:srgbClr val="3C78D8"/>
                </a:solidFill>
              </a:rPr>
              <a:t>Lines 7-35 of WeakPasswordObserver.java</a:t>
            </a:r>
            <a:endParaRPr sz="1629">
              <a:solidFill>
                <a:schemeClr val="dk1"/>
              </a:solidFill>
            </a:endParaRPr>
          </a:p>
          <a:p>
            <a:pPr indent="-308816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29">
                <a:solidFill>
                  <a:schemeClr val="dk1"/>
                </a:solidFill>
              </a:rPr>
              <a:t>In password recovery, PasswordStrengthSubject evaluates strength and notifies RecoveryController to update status labels and gating logic before enabling reset</a:t>
            </a:r>
            <a:endParaRPr sz="1629">
              <a:solidFill>
                <a:schemeClr val="dk1"/>
              </a:solidFill>
            </a:endParaRPr>
          </a:p>
          <a:p>
            <a:pPr indent="-308816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■"/>
            </a:pPr>
            <a:r>
              <a:rPr lang="en" sz="1629">
                <a:solidFill>
                  <a:srgbClr val="3C78D8"/>
                </a:solidFill>
              </a:rPr>
              <a:t>Lines 6-95 of PasswordStrengthSubject.java</a:t>
            </a:r>
            <a:endParaRPr sz="1629">
              <a:solidFill>
                <a:srgbClr val="3C78D8"/>
              </a:solidFill>
            </a:endParaRPr>
          </a:p>
          <a:p>
            <a:pPr indent="-308816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■"/>
            </a:pPr>
            <a:r>
              <a:rPr lang="en" sz="1629">
                <a:solidFill>
                  <a:srgbClr val="3C78D8"/>
                </a:solidFill>
              </a:rPr>
              <a:t>Lines 38-188 of RecoveryController.java</a:t>
            </a:r>
            <a:endParaRPr sz="1629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3857625" y="133400"/>
            <a:ext cx="5286300" cy="10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Proxy — Controlled Exposure of Sensitive Data</a:t>
            </a:r>
            <a:endParaRPr sz="2320"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3857625" y="1232600"/>
            <a:ext cx="52863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021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29">
                <a:solidFill>
                  <a:schemeClr val="dk1"/>
                </a:solidFill>
              </a:rPr>
              <a:t>Classes</a:t>
            </a:r>
            <a:r>
              <a:rPr lang="en" sz="1729">
                <a:solidFill>
                  <a:schemeClr val="dk1"/>
                </a:solidFill>
              </a:rPr>
              <a:t>: SensitiveValueProxy, MaskedCredentialProxy</a:t>
            </a:r>
            <a:r>
              <a:rPr lang="en" sz="1729">
                <a:solidFill>
                  <a:schemeClr val="dk1"/>
                </a:solidFill>
              </a:rPr>
              <a:t> </a:t>
            </a:r>
            <a:endParaRPr sz="1729">
              <a:solidFill>
                <a:schemeClr val="dk1"/>
              </a:solidFill>
            </a:endParaRPr>
          </a:p>
          <a:p>
            <a:pPr indent="-33021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29">
                <a:solidFill>
                  <a:schemeClr val="dk1"/>
                </a:solidFill>
              </a:rPr>
              <a:t>What it does</a:t>
            </a:r>
            <a:r>
              <a:rPr lang="en" sz="1729">
                <a:solidFill>
                  <a:schemeClr val="dk1"/>
                </a:solidFill>
              </a:rPr>
              <a:t>: Wraps sensitive fields so the UI can show masked text by default, while allowing unmasked retrieval when explicitly revealed</a:t>
            </a:r>
            <a:endParaRPr sz="1729">
              <a:solidFill>
                <a:schemeClr val="dk1"/>
              </a:solidFill>
            </a:endParaRPr>
          </a:p>
          <a:p>
            <a:pPr indent="-33021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729">
                <a:solidFill>
                  <a:schemeClr val="dk1"/>
                </a:solidFill>
              </a:rPr>
              <a:t>How it’s used</a:t>
            </a:r>
            <a:r>
              <a:rPr lang="en" sz="1729">
                <a:solidFill>
                  <a:schemeClr val="dk1"/>
                </a:solidFill>
              </a:rPr>
              <a:t>: Proxies return masked display strings until reveal() is called, letting controllers safely bind them to views without leaking raw secrets</a:t>
            </a:r>
            <a:endParaRPr sz="1729">
              <a:solidFill>
                <a:schemeClr val="dk1"/>
              </a:solidFill>
            </a:endParaRPr>
          </a:p>
          <a:p>
            <a:pPr indent="-33021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chemeClr val="dk1"/>
                </a:solidFill>
              </a:rPr>
              <a:t>Generic sensitive-value masking logic</a:t>
            </a:r>
            <a:endParaRPr sz="1729">
              <a:solidFill>
                <a:srgbClr val="3C78D8"/>
              </a:solidFill>
            </a:endParaRPr>
          </a:p>
          <a:p>
            <a:pPr indent="-33021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■"/>
            </a:pPr>
            <a:r>
              <a:rPr lang="en" sz="1729">
                <a:solidFill>
                  <a:srgbClr val="3C78D8"/>
                </a:solidFill>
              </a:rPr>
              <a:t>Lines 5-35 of SensitiveValueProxy.java</a:t>
            </a:r>
            <a:endParaRPr sz="1729">
              <a:solidFill>
                <a:srgbClr val="3C78D8"/>
              </a:solidFill>
            </a:endParaRPr>
          </a:p>
          <a:p>
            <a:pPr indent="-33021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29">
                <a:solidFill>
                  <a:schemeClr val="dk1"/>
                </a:solidFill>
              </a:rPr>
              <a:t>Credential masking with reveal/hide toggles and per-field masking rules</a:t>
            </a:r>
            <a:endParaRPr sz="1729">
              <a:solidFill>
                <a:srgbClr val="3C78D8"/>
              </a:solidFill>
            </a:endParaRPr>
          </a:p>
          <a:p>
            <a:pPr indent="-33021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■"/>
            </a:pPr>
            <a:r>
              <a:rPr lang="en" sz="1729">
                <a:solidFill>
                  <a:srgbClr val="3C78D8"/>
                </a:solidFill>
              </a:rPr>
              <a:t>Lines 3-59 of MaskedCredentialProxy.java</a:t>
            </a:r>
            <a:endParaRPr sz="1729">
              <a:solidFill>
                <a:srgbClr val="3C78D8"/>
              </a:solidFill>
            </a:endParaRPr>
          </a:p>
        </p:txBody>
      </p:sp>
      <p:pic>
        <p:nvPicPr>
          <p:cNvPr id="313" name="Google Shape;313;p18" title="Proxy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4500"/>
            <a:ext cx="4062774" cy="34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9" title="ChainOfResponsibility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1193000"/>
            <a:ext cx="4508775" cy="27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9"/>
          <p:cNvSpPr txBox="1"/>
          <p:nvPr>
            <p:ph type="title"/>
          </p:nvPr>
        </p:nvSpPr>
        <p:spPr>
          <a:xfrm>
            <a:off x="2113500" y="193700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1720"/>
              <a:t>Chain of Responsibility — Sequential Security Question Checks</a:t>
            </a:r>
            <a:endParaRPr sz="1520"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4210050" y="1047750"/>
            <a:ext cx="4934100" cy="4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6089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829">
                <a:solidFill>
                  <a:schemeClr val="dk1"/>
                </a:solidFill>
              </a:rPr>
              <a:t>Classes</a:t>
            </a:r>
            <a:r>
              <a:rPr lang="en" sz="1829">
                <a:solidFill>
                  <a:schemeClr val="dk1"/>
                </a:solidFill>
              </a:rPr>
              <a:t>: SecurityQuestionHandler linked via setNextHandler, orchestrated by RecoveryController</a:t>
            </a:r>
            <a:endParaRPr sz="1829">
              <a:solidFill>
                <a:schemeClr val="dk1"/>
              </a:solidFill>
            </a:endParaRPr>
          </a:p>
          <a:p>
            <a:pPr indent="-33608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829">
                <a:solidFill>
                  <a:schemeClr val="dk1"/>
                </a:solidFill>
              </a:rPr>
              <a:t>What it does</a:t>
            </a:r>
            <a:r>
              <a:rPr lang="en" sz="1829">
                <a:solidFill>
                  <a:schemeClr val="dk1"/>
                </a:solidFill>
              </a:rPr>
              <a:t>: Each handler validates one security question/answer and passes control to the next until all are answered</a:t>
            </a:r>
            <a:endParaRPr sz="1829">
              <a:solidFill>
                <a:schemeClr val="dk1"/>
              </a:solidFill>
            </a:endParaRPr>
          </a:p>
          <a:p>
            <a:pPr indent="-33608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829">
                <a:solidFill>
                  <a:schemeClr val="dk1"/>
                </a:solidFill>
              </a:rPr>
              <a:t>How it’s used</a:t>
            </a:r>
            <a:r>
              <a:rPr lang="en" sz="1829">
                <a:solidFill>
                  <a:schemeClr val="dk1"/>
                </a:solidFill>
              </a:rPr>
              <a:t>: RecoveryController builds a chain of three handlers; submitAnswer() advances through the chain and only unlocks password reset when all handlers have approved answers</a:t>
            </a:r>
            <a:endParaRPr sz="1829">
              <a:solidFill>
                <a:srgbClr val="3C78D8"/>
              </a:solidFill>
            </a:endParaRPr>
          </a:p>
          <a:p>
            <a:pPr indent="-33608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829">
                <a:solidFill>
                  <a:srgbClr val="3C78D8"/>
                </a:solidFill>
              </a:rPr>
              <a:t>Lines 3-30 of SecurityQuestionHandler.java</a:t>
            </a:r>
            <a:endParaRPr sz="1829">
              <a:solidFill>
                <a:srgbClr val="3C78D8"/>
              </a:solidFill>
            </a:endParaRPr>
          </a:p>
          <a:p>
            <a:pPr indent="-33608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829">
                <a:solidFill>
                  <a:srgbClr val="3C78D8"/>
                </a:solidFill>
              </a:rPr>
              <a:t>Lines 24-149 of RecoveryController.java</a:t>
            </a:r>
            <a:endParaRPr sz="1829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0" title="Singleton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6350"/>
            <a:ext cx="23050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 txBox="1"/>
          <p:nvPr>
            <p:ph type="title"/>
          </p:nvPr>
        </p:nvSpPr>
        <p:spPr>
          <a:xfrm>
            <a:off x="2113500" y="31282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Singleton — Shared Session State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2113500" y="1200225"/>
            <a:ext cx="7030500" cy="3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115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30"/>
              <a:buChar char="●"/>
            </a:pPr>
            <a:r>
              <a:rPr b="1" lang="en" sz="1929">
                <a:solidFill>
                  <a:schemeClr val="dk1"/>
                </a:solidFill>
              </a:rPr>
              <a:t>Class</a:t>
            </a:r>
            <a:r>
              <a:rPr lang="en" sz="1929">
                <a:solidFill>
                  <a:schemeClr val="dk1"/>
                </a:solidFill>
              </a:rPr>
              <a:t>: SessionManager</a:t>
            </a:r>
            <a:endParaRPr sz="1929">
              <a:solidFill>
                <a:schemeClr val="dk1"/>
              </a:solidFill>
            </a:endParaRPr>
          </a:p>
          <a:p>
            <a:pPr indent="-3511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30"/>
              <a:buChar char="●"/>
            </a:pPr>
            <a:r>
              <a:rPr b="1" lang="en" sz="1929">
                <a:solidFill>
                  <a:schemeClr val="dk1"/>
                </a:solidFill>
              </a:rPr>
              <a:t>What it does</a:t>
            </a:r>
            <a:r>
              <a:rPr lang="en" sz="1929">
                <a:solidFill>
                  <a:schemeClr val="dk1"/>
                </a:solidFill>
              </a:rPr>
              <a:t>: Ensures a single, shared session object that tracks the logged-in user and manages sensitive cleanup/clipboard clearing</a:t>
            </a:r>
            <a:endParaRPr sz="1929">
              <a:solidFill>
                <a:schemeClr val="dk1"/>
              </a:solidFill>
            </a:endParaRPr>
          </a:p>
          <a:p>
            <a:pPr indent="-3511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30"/>
              <a:buChar char="●"/>
            </a:pPr>
            <a:r>
              <a:rPr b="1" lang="en" sz="1929">
                <a:solidFill>
                  <a:schemeClr val="dk1"/>
                </a:solidFill>
              </a:rPr>
              <a:t>How it’s used</a:t>
            </a:r>
            <a:r>
              <a:rPr lang="en" sz="1929">
                <a:solidFill>
                  <a:schemeClr val="dk1"/>
                </a:solidFill>
              </a:rPr>
              <a:t>: Accessed via SessionManager.getInstance(); controllers store and clear session data through synchronized setters/getters and clearSession()</a:t>
            </a:r>
            <a:endParaRPr sz="1929">
              <a:solidFill>
                <a:schemeClr val="dk1"/>
              </a:solidFill>
            </a:endParaRPr>
          </a:p>
          <a:p>
            <a:pPr indent="-3511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30"/>
              <a:buChar char="○"/>
            </a:pPr>
            <a:r>
              <a:rPr lang="en" sz="1929">
                <a:solidFill>
                  <a:schemeClr val="dk1"/>
                </a:solidFill>
              </a:rPr>
              <a:t>Singleton instance, accessor, and session cleanup logic</a:t>
            </a:r>
            <a:endParaRPr sz="1929">
              <a:solidFill>
                <a:srgbClr val="3C78D8"/>
              </a:solidFill>
            </a:endParaRPr>
          </a:p>
          <a:p>
            <a:pPr indent="-351155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930"/>
              <a:buChar char="■"/>
            </a:pPr>
            <a:r>
              <a:rPr lang="en" sz="1929">
                <a:solidFill>
                  <a:srgbClr val="3C78D8"/>
                </a:solidFill>
              </a:rPr>
              <a:t>Lines 7-48 of SessionManager.java</a:t>
            </a:r>
            <a:endParaRPr sz="1929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50" y="464875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the Pieces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1101050" y="1344850"/>
            <a:ext cx="7233300" cy="35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16579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629">
                <a:solidFill>
                  <a:schemeClr val="dk1"/>
                </a:solidFill>
              </a:rPr>
              <a:t>Account creation flow</a:t>
            </a:r>
            <a:r>
              <a:rPr lang="en" sz="1629">
                <a:solidFill>
                  <a:schemeClr val="dk1"/>
                </a:solidFill>
              </a:rPr>
              <a:t>: CreateAccountController → generates password via Builder, hands it to Mediator to populate the field, and pushes it through Observer to warn on weak passwords</a:t>
            </a:r>
            <a:endParaRPr sz="1629">
              <a:solidFill>
                <a:srgbClr val="3C78D8"/>
              </a:solidFill>
            </a:endParaRPr>
          </a:p>
          <a:p>
            <a:pPr indent="-31657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629">
                <a:solidFill>
                  <a:srgbClr val="3C78D8"/>
                </a:solidFill>
              </a:rPr>
              <a:t>Lines 43-89 of CreateAccountController.java</a:t>
            </a:r>
            <a:endParaRPr sz="1629">
              <a:solidFill>
                <a:srgbClr val="3C78D8"/>
              </a:solidFill>
            </a:endParaRPr>
          </a:p>
          <a:p>
            <a:pPr indent="-31657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629">
                <a:solidFill>
                  <a:srgbClr val="3C78D8"/>
                </a:solidFill>
              </a:rPr>
              <a:t>Lines 7-123 of PasswordBuilder.java</a:t>
            </a:r>
            <a:endParaRPr sz="1629">
              <a:solidFill>
                <a:srgbClr val="3C78D8"/>
              </a:solidFill>
            </a:endParaRPr>
          </a:p>
          <a:p>
            <a:pPr indent="-31657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629">
                <a:solidFill>
                  <a:srgbClr val="3C78D8"/>
                </a:solidFill>
              </a:rPr>
              <a:t>Lines 6-42 of CreateAccountMediator.java</a:t>
            </a:r>
            <a:endParaRPr sz="1629">
              <a:solidFill>
                <a:srgbClr val="3C78D8"/>
              </a:solidFill>
            </a:endParaRPr>
          </a:p>
          <a:p>
            <a:pPr indent="-31657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629">
                <a:solidFill>
                  <a:schemeClr val="dk1"/>
                </a:solidFill>
              </a:rPr>
              <a:t>Data display flow</a:t>
            </a:r>
            <a:r>
              <a:rPr lang="en" sz="1629">
                <a:solidFill>
                  <a:schemeClr val="dk1"/>
                </a:solidFill>
              </a:rPr>
              <a:t>: Controllers wrap entities in Proxy classes (e.g., credentials) so UI bindings show masked values until a user action reveals them</a:t>
            </a:r>
            <a:endParaRPr sz="1629">
              <a:solidFill>
                <a:srgbClr val="3C78D8"/>
              </a:solidFill>
            </a:endParaRPr>
          </a:p>
          <a:p>
            <a:pPr indent="-31657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629">
                <a:solidFill>
                  <a:srgbClr val="3C78D8"/>
                </a:solidFill>
              </a:rPr>
              <a:t>Lines 3-59 of MaskedCredentialProxy.java</a:t>
            </a:r>
            <a:endParaRPr sz="1629">
              <a:solidFill>
                <a:srgbClr val="3C78D8"/>
              </a:solidFill>
            </a:endParaRPr>
          </a:p>
          <a:p>
            <a:pPr indent="-31657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629">
                <a:solidFill>
                  <a:schemeClr val="dk1"/>
                </a:solidFill>
              </a:rPr>
              <a:t>Recovery flow</a:t>
            </a:r>
            <a:r>
              <a:rPr lang="en" sz="1629">
                <a:solidFill>
                  <a:schemeClr val="dk1"/>
                </a:solidFill>
              </a:rPr>
              <a:t>: RecoveryController chains SecurityQuestionHandler objects (Chain of Responsibility) and, once cleared, relies on Observer feedback to gate password reset; session data is centralized in the Singleton SessionManager and sensitive remnants are cleared there</a:t>
            </a:r>
            <a:endParaRPr sz="1629">
              <a:solidFill>
                <a:srgbClr val="3C78D8"/>
              </a:solidFill>
            </a:endParaRPr>
          </a:p>
          <a:p>
            <a:pPr indent="-31657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629">
                <a:solidFill>
                  <a:srgbClr val="3C78D8"/>
                </a:solidFill>
              </a:rPr>
              <a:t>Lines 34-188 of RecoveryController.java</a:t>
            </a:r>
            <a:endParaRPr sz="1629">
              <a:solidFill>
                <a:srgbClr val="3C78D8"/>
              </a:solidFill>
            </a:endParaRPr>
          </a:p>
          <a:p>
            <a:pPr indent="-316579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ct val="100000"/>
              <a:buChar char="○"/>
            </a:pPr>
            <a:r>
              <a:rPr lang="en" sz="1629">
                <a:solidFill>
                  <a:srgbClr val="3C78D8"/>
                </a:solidFill>
              </a:rPr>
              <a:t>Lines 7-48 of SessionManager.java</a:t>
            </a:r>
            <a:endParaRPr sz="1629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2" title="TermProjectClass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0"/>
            <a:ext cx="72199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2"/>
          <p:cNvSpPr txBox="1"/>
          <p:nvPr>
            <p:ph type="ctrTitle"/>
          </p:nvPr>
        </p:nvSpPr>
        <p:spPr>
          <a:xfrm>
            <a:off x="-685800" y="2338350"/>
            <a:ext cx="23697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C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L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A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S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S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140"/>
          </a:p>
        </p:txBody>
      </p:sp>
      <p:sp>
        <p:nvSpPr>
          <p:cNvPr id="340" name="Google Shape;340;p22"/>
          <p:cNvSpPr txBox="1"/>
          <p:nvPr>
            <p:ph type="ctrTitle"/>
          </p:nvPr>
        </p:nvSpPr>
        <p:spPr>
          <a:xfrm>
            <a:off x="7481975" y="2429725"/>
            <a:ext cx="2369700" cy="6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D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I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A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G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R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A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40"/>
              <a:t>M</a:t>
            </a:r>
            <a:endParaRPr sz="41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140"/>
          </a:p>
        </p:txBody>
      </p:sp>
      <p:sp>
        <p:nvSpPr>
          <p:cNvPr id="341" name="Google Shape;341;p22"/>
          <p:cNvSpPr/>
          <p:nvPr/>
        </p:nvSpPr>
        <p:spPr>
          <a:xfrm>
            <a:off x="4429125" y="857250"/>
            <a:ext cx="755100" cy="755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2781300" y="0"/>
            <a:ext cx="1495500" cy="1612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962025" y="923925"/>
            <a:ext cx="755100" cy="755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962025" y="1679025"/>
            <a:ext cx="1219200" cy="1226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2914650" y="2571750"/>
            <a:ext cx="1305000" cy="1381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1581150" y="1981200"/>
            <a:ext cx="885900" cy="213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4362450" y="539025"/>
            <a:ext cx="136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Singleton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2848050" y="1545825"/>
            <a:ext cx="136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Observer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2886150" y="3853725"/>
            <a:ext cx="136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Proxy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343100" y="4048200"/>
            <a:ext cx="136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Builder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1717125" y="1360800"/>
            <a:ext cx="136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Mediator</a:t>
            </a:r>
            <a:endParaRPr b="1" sz="1300">
              <a:solidFill>
                <a:srgbClr val="FF0000"/>
              </a:solidFill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962025" y="438975"/>
            <a:ext cx="136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Chain of Responsibility</a:t>
            </a:r>
            <a:endParaRPr b="1"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/>
          <p:nvPr>
            <p:ph type="title"/>
          </p:nvPr>
        </p:nvSpPr>
        <p:spPr>
          <a:xfrm>
            <a:off x="1303800" y="0"/>
            <a:ext cx="7030500" cy="9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Summary</a:t>
            </a:r>
            <a:endParaRPr/>
          </a:p>
        </p:txBody>
      </p:sp>
      <p:sp>
        <p:nvSpPr>
          <p:cNvPr id="358" name="Google Shape;358;p23"/>
          <p:cNvSpPr txBox="1"/>
          <p:nvPr>
            <p:ph idx="1" type="body"/>
          </p:nvPr>
        </p:nvSpPr>
        <p:spPr>
          <a:xfrm>
            <a:off x="1069600" y="833650"/>
            <a:ext cx="7849200" cy="41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929">
                <a:solidFill>
                  <a:schemeClr val="dk1"/>
                </a:solidFill>
              </a:rPr>
              <a:t>Functions/Features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Allow user to register an account (email address as username and a master password and three security questions) </a:t>
            </a:r>
            <a:r>
              <a:rPr b="1" lang="en" sz="1929">
                <a:solidFill>
                  <a:schemeClr val="dk1"/>
                </a:solidFill>
              </a:rPr>
              <a:t>Brandon and 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Suggest strong password (password generator)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Weak master password warning. </a:t>
            </a:r>
            <a:r>
              <a:rPr b="1" lang="en" sz="1929">
                <a:solidFill>
                  <a:schemeClr val="dk1"/>
                </a:solidFill>
              </a:rPr>
              <a:t>Brandon and 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Once logs in, the user will have access to all sensitive data saved in the vault. </a:t>
            </a:r>
            <a:r>
              <a:rPr b="1" lang="en" sz="1929">
                <a:solidFill>
                  <a:schemeClr val="dk1"/>
                </a:solidFill>
              </a:rPr>
              <a:t>Brandon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MyPass has built-in data type in the vault, including Login, Credit Card, Identity, Secure Notes. </a:t>
            </a:r>
            <a:r>
              <a:rPr b="1" lang="en" sz="1929">
                <a:solidFill>
                  <a:schemeClr val="dk1"/>
                </a:solidFill>
              </a:rPr>
              <a:t>Brandon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MyPass allows user to create/modify/delete items in the vault. </a:t>
            </a:r>
            <a:r>
              <a:rPr b="1" lang="en" sz="1929">
                <a:solidFill>
                  <a:schemeClr val="dk1"/>
                </a:solidFill>
              </a:rPr>
              <a:t>Brandon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MyPass allows user to easily copy username/password and URL in Login data type.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MyPass allows user to easily copy credit card number and CVV in credit card data type.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Sensitive data such as username, password, credit card number, CVV, passport number, license number, social security number must be masked.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All masked data must be given an option to unmask. </a:t>
            </a:r>
            <a:r>
              <a:rPr b="1" lang="en" sz="1929">
                <a:solidFill>
                  <a:schemeClr val="dk1"/>
                </a:solidFill>
              </a:rPr>
              <a:t>Brandon and 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Auto lock after x mins of inactivity.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1438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Auto delete copied sensitive data in clipboard after x mins.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 txBox="1"/>
          <p:nvPr>
            <p:ph type="title"/>
          </p:nvPr>
        </p:nvSpPr>
        <p:spPr>
          <a:xfrm>
            <a:off x="1303800" y="2044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</a:t>
            </a:r>
            <a:r>
              <a:rPr lang="en"/>
              <a:t>Summary</a:t>
            </a:r>
            <a:endParaRPr/>
          </a:p>
        </p:txBody>
      </p:sp>
      <p:sp>
        <p:nvSpPr>
          <p:cNvPr id="364" name="Google Shape;364;p24"/>
          <p:cNvSpPr txBox="1"/>
          <p:nvPr>
            <p:ph idx="1" type="body"/>
          </p:nvPr>
        </p:nvSpPr>
        <p:spPr>
          <a:xfrm>
            <a:off x="1085325" y="857250"/>
            <a:ext cx="7848900" cy="41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929">
                <a:solidFill>
                  <a:schemeClr val="dk1"/>
                </a:solidFill>
              </a:rPr>
              <a:t>Implementation:</a:t>
            </a:r>
            <a:endParaRPr b="1" sz="1929">
              <a:solidFill>
                <a:schemeClr val="dk1"/>
              </a:solidFill>
            </a:endParaRPr>
          </a:p>
          <a:p>
            <a:pPr indent="-32358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User Authentication and Encryption: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235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9">
                <a:solidFill>
                  <a:schemeClr val="dk1"/>
                </a:solidFill>
              </a:rPr>
              <a:t>Implement the Singleton pattern to manage the user's session securely.</a:t>
            </a:r>
            <a:endParaRPr sz="1929">
              <a:solidFill>
                <a:schemeClr val="dk1"/>
              </a:solidFill>
            </a:endParaRPr>
          </a:p>
          <a:p>
            <a:pPr indent="-323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Password Storage and Management: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235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9">
                <a:solidFill>
                  <a:schemeClr val="dk1"/>
                </a:solidFill>
              </a:rPr>
              <a:t>Apply the Observer pattern to notify users in the events of weak password.</a:t>
            </a:r>
            <a:endParaRPr sz="1929">
              <a:solidFill>
                <a:schemeClr val="dk1"/>
              </a:solidFill>
            </a:endParaRPr>
          </a:p>
          <a:p>
            <a:pPr indent="-323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User Interface and Interaction: </a:t>
            </a:r>
            <a:r>
              <a:rPr b="1" lang="en" sz="1929">
                <a:solidFill>
                  <a:schemeClr val="dk1"/>
                </a:solidFill>
              </a:rPr>
              <a:t>Brandon</a:t>
            </a:r>
            <a:endParaRPr b="1" sz="1929">
              <a:solidFill>
                <a:schemeClr val="dk1"/>
              </a:solidFill>
            </a:endParaRPr>
          </a:p>
          <a:p>
            <a:pPr indent="-3235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9">
                <a:solidFill>
                  <a:schemeClr val="dk1"/>
                </a:solidFill>
              </a:rPr>
              <a:t>Implement the Mediator pattern to manage communication between various UI components.</a:t>
            </a:r>
            <a:endParaRPr sz="1929">
              <a:solidFill>
                <a:schemeClr val="dk1"/>
              </a:solidFill>
            </a:endParaRPr>
          </a:p>
          <a:p>
            <a:pPr indent="-323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Password Generation: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235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9">
                <a:solidFill>
                  <a:schemeClr val="dk1"/>
                </a:solidFill>
              </a:rPr>
              <a:t>Apply the Builder pattern to create complex passwords with specific requirements (length, complexity).</a:t>
            </a:r>
            <a:endParaRPr sz="1929">
              <a:solidFill>
                <a:schemeClr val="dk1"/>
              </a:solidFill>
            </a:endParaRPr>
          </a:p>
          <a:p>
            <a:pPr indent="-323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Data Mask and Unmask: </a:t>
            </a:r>
            <a:r>
              <a:rPr b="1" lang="en" sz="1929">
                <a:solidFill>
                  <a:schemeClr val="dk1"/>
                </a:solidFill>
              </a:rPr>
              <a:t>Andrew</a:t>
            </a:r>
            <a:endParaRPr b="1" sz="1929">
              <a:solidFill>
                <a:schemeClr val="dk1"/>
              </a:solidFill>
            </a:endParaRPr>
          </a:p>
          <a:p>
            <a:pPr indent="-3235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9">
                <a:solidFill>
                  <a:schemeClr val="dk1"/>
                </a:solidFill>
              </a:rPr>
              <a:t>Implement the Proxy pattern to mask and unmask sensitive data.</a:t>
            </a:r>
            <a:endParaRPr sz="1929">
              <a:solidFill>
                <a:schemeClr val="dk1"/>
              </a:solidFill>
            </a:endParaRPr>
          </a:p>
          <a:p>
            <a:pPr indent="-3235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29">
                <a:solidFill>
                  <a:schemeClr val="dk1"/>
                </a:solidFill>
              </a:rPr>
              <a:t>Master Password Recovery: </a:t>
            </a:r>
            <a:r>
              <a:rPr b="1" lang="en" sz="1929">
                <a:solidFill>
                  <a:schemeClr val="dk1"/>
                </a:solidFill>
              </a:rPr>
              <a:t>Brandon</a:t>
            </a:r>
            <a:endParaRPr b="1" sz="1929">
              <a:solidFill>
                <a:schemeClr val="dk1"/>
              </a:solidFill>
            </a:endParaRPr>
          </a:p>
          <a:p>
            <a:pPr indent="-3235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929">
                <a:solidFill>
                  <a:schemeClr val="dk1"/>
                </a:solidFill>
              </a:rPr>
              <a:t>Apply the Chain of Responsibility pattern to create a secure process (using three security questions to build the chain) for recovering a forgotten master password.</a:t>
            </a:r>
            <a:endParaRPr sz="192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